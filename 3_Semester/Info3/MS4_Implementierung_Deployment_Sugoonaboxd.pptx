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Implementierung &amp; Deployment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Grundgerüst zum lauffähigen MVP – Sugoonaboxd in Aktion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Nguyen · Luca Hoffmann · Emily Nguyen   |   Informatik 3, HTW Berlin,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RAHMENBEDINGUNGEN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194767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060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19856" y="16916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4767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9856" y="26060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9632" y="16916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94767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9632" y="26060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979408" y="16916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2" y="1947672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79408" y="26060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35204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064" y="377647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" y="44348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3419856" y="35204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776472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19856" y="44348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199632" y="3520440"/>
            <a:ext cx="257860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616" y="3776472"/>
            <a:ext cx="548640" cy="5486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199632" y="44348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Empfohlene IDE: VS Code oder IntelliJ IDEA · Containerisierung: Docker (siehe „Ausblick“)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 1 VON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Geschäftslogik: Bewertungen als Upsert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muss zwischen 1 und 5 liegen, sonst HTTP 400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 ist Pflichtfeld – identifiziert den Titel eindeutig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 aus type + externalId ist als Unique Constraint in der Datenbank abgesichert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Upsert-Strategie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Existiert bereits eine Bewertung zu (type, externalId), wird sie aktualisiert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Andernfalls wird eine neue Rating-Entität angelegt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ratedAt wird bei jeder Änderung auf den aktuellen Zeitpunkt gesetzt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 2 VON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Externe API-Integration mit Resilienz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ruft GET /api/search?type=anime&amp;query=... auf.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18688" y="3291840"/>
            <a:ext cx="20116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19856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21024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0253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42816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Primärquelle: Jikan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75888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ExternalApiController fragt zuerst die Jikan-API (MyAnimeList) ab.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98464" y="3291840"/>
            <a:ext cx="20116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199632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00253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22592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Fehlerfall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55664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Timeout, Fehler oder leerer Antwort greift automatisch der Fallback.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778240" y="3291840"/>
            <a:ext cx="20116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979408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80576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00253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02368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AniList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235440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GraphQL-Anfrage an AniList liefert alternative Ergebnisse.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Fallback-Idee lässt sich künftig auch für IMDb-Anfragen ergänzen (z. B. Caching bei Ausfall).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 3 VON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Persistenz: Tabelle ratings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40080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1645920"/>
              </a:tblGrid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Spalte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BIGINT (Identity)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Primärschlüssel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year / genres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NULL, 1–5 (Anwendungslogik)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/ poster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VARCHAR(1024/512)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rated_at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 WITH TZ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(type, external_id)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gemeinsam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69480" y="1691640"/>
            <a:ext cx="4251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70648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376" y="20025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183794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Umgesetzt mit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25512" y="2496312"/>
            <a:ext cx="3739896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 (ddl-auto=update)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PostgreSQL-Instanz der HTW Berlin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RatingRepository mit findByTypeAndExternalId &amp; findAllByOrderByRatedAtDesc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 4 VON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Benutzeroberfläche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27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4708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" y="1847088"/>
            <a:ext cx="146304" cy="146304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184708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24028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41B2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5915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eingeben ...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2402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240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7889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965960" y="27889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71800" y="27889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012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60120" y="361188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/>
        </p:spPr>
      </p:sp>
      <p:sp>
        <p:nvSpPr>
          <p:cNvPr id="20" name="Shape 17"/>
          <p:cNvSpPr/>
          <p:nvPr/>
        </p:nvSpPr>
        <p:spPr>
          <a:xfrm>
            <a:off x="1069848" y="3730752"/>
            <a:ext cx="457200" cy="548640"/>
          </a:xfrm>
          <a:prstGeom prst="roundRect">
            <a:avLst>
              <a:gd name="adj" fmla="val 8000"/>
            </a:avLst>
          </a:prstGeom>
          <a:solidFill>
            <a:srgbClr val="1D2740"/>
          </a:solidFill>
          <a:ln/>
        </p:spPr>
      </p:sp>
      <p:sp>
        <p:nvSpPr>
          <p:cNvPr id="21" name="Text 18"/>
          <p:cNvSpPr/>
          <p:nvPr/>
        </p:nvSpPr>
        <p:spPr>
          <a:xfrm>
            <a:off x="1618488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1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4014216"/>
            <a:ext cx="137160" cy="13716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4014216"/>
            <a:ext cx="137160" cy="13716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4014216"/>
            <a:ext cx="137160" cy="13716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696" y="4014216"/>
            <a:ext cx="137160" cy="13716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3432" y="4014216"/>
            <a:ext cx="137160" cy="13716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60120" y="45720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/>
        </p:spPr>
      </p:sp>
      <p:sp>
        <p:nvSpPr>
          <p:cNvPr id="28" name="Shape 20"/>
          <p:cNvSpPr/>
          <p:nvPr/>
        </p:nvSpPr>
        <p:spPr>
          <a:xfrm>
            <a:off x="1069848" y="4690872"/>
            <a:ext cx="457200" cy="548640"/>
          </a:xfrm>
          <a:prstGeom prst="roundRect">
            <a:avLst>
              <a:gd name="adj" fmla="val 8000"/>
            </a:avLst>
          </a:prstGeom>
          <a:solidFill>
            <a:srgbClr val="1D2740"/>
          </a:solidFill>
          <a:ln/>
        </p:spPr>
      </p:sp>
      <p:sp>
        <p:nvSpPr>
          <p:cNvPr id="29" name="Text 21"/>
          <p:cNvSpPr/>
          <p:nvPr/>
        </p:nvSpPr>
        <p:spPr>
          <a:xfrm>
            <a:off x="1618488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2</a:t>
            </a:r>
            <a:endParaRPr lang="en-US" sz="9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8488" y="4974336"/>
            <a:ext cx="137160" cy="137160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4974336"/>
            <a:ext cx="137160" cy="137160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5960" y="4974336"/>
            <a:ext cx="137160" cy="137160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9696" y="4974336"/>
            <a:ext cx="137160" cy="137160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3432" y="4974336"/>
            <a:ext cx="137160" cy="13716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406908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Bewertungen</a:t>
            </a:r>
            <a:endParaRPr lang="en-US" sz="1100" dirty="0"/>
          </a:p>
        </p:txBody>
      </p:sp>
      <p:sp>
        <p:nvSpPr>
          <p:cNvPr id="36" name="Shape 23"/>
          <p:cNvSpPr/>
          <p:nvPr/>
        </p:nvSpPr>
        <p:spPr>
          <a:xfrm>
            <a:off x="4069080" y="361188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/>
        </p:spPr>
      </p:sp>
      <p:sp>
        <p:nvSpPr>
          <p:cNvPr id="37" name="Shape 24"/>
          <p:cNvSpPr/>
          <p:nvPr/>
        </p:nvSpPr>
        <p:spPr>
          <a:xfrm>
            <a:off x="4178808" y="3730752"/>
            <a:ext cx="457200" cy="548640"/>
          </a:xfrm>
          <a:prstGeom prst="roundRect">
            <a:avLst>
              <a:gd name="adj" fmla="val 8000"/>
            </a:avLst>
          </a:prstGeom>
          <a:solidFill>
            <a:srgbClr val="1D2740"/>
          </a:solidFill>
          <a:ln/>
        </p:spPr>
      </p:sp>
      <p:sp>
        <p:nvSpPr>
          <p:cNvPr id="38" name="Text 25"/>
          <p:cNvSpPr/>
          <p:nvPr/>
        </p:nvSpPr>
        <p:spPr>
          <a:xfrm>
            <a:off x="4727448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Bewertet 1</a:t>
            </a:r>
            <a:endParaRPr lang="en-US" sz="9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7448" y="4014216"/>
            <a:ext cx="137160" cy="137160"/>
          </a:xfrm>
          <a:prstGeom prst="rect">
            <a:avLst/>
          </a:prstGeom>
        </p:spPr>
      </p:pic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1184" y="4014216"/>
            <a:ext cx="137160" cy="137160"/>
          </a:xfrm>
          <a:prstGeom prst="rect">
            <a:avLst/>
          </a:prstGeom>
        </p:spPr>
      </p:pic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920" y="4014216"/>
            <a:ext cx="137160" cy="137160"/>
          </a:xfrm>
          <a:prstGeom prst="rect">
            <a:avLst/>
          </a:prstGeom>
        </p:spPr>
      </p:pic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8656" y="4014216"/>
            <a:ext cx="137160" cy="137160"/>
          </a:xfrm>
          <a:prstGeom prst="rect">
            <a:avLst/>
          </a:prstGeom>
        </p:spPr>
      </p:pic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2392" y="4014216"/>
            <a:ext cx="137160" cy="137160"/>
          </a:xfrm>
          <a:prstGeom prst="rect">
            <a:avLst/>
          </a:prstGeom>
        </p:spPr>
      </p:pic>
      <p:sp>
        <p:nvSpPr>
          <p:cNvPr id="44" name="Shape 26"/>
          <p:cNvSpPr/>
          <p:nvPr/>
        </p:nvSpPr>
        <p:spPr>
          <a:xfrm>
            <a:off x="4069080" y="45720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/>
        </p:spPr>
      </p:sp>
      <p:sp>
        <p:nvSpPr>
          <p:cNvPr id="45" name="Shape 27"/>
          <p:cNvSpPr/>
          <p:nvPr/>
        </p:nvSpPr>
        <p:spPr>
          <a:xfrm>
            <a:off x="4178808" y="4690872"/>
            <a:ext cx="457200" cy="548640"/>
          </a:xfrm>
          <a:prstGeom prst="roundRect">
            <a:avLst>
              <a:gd name="adj" fmla="val 8000"/>
            </a:avLst>
          </a:prstGeom>
          <a:solidFill>
            <a:srgbClr val="1D2740"/>
          </a:solidFill>
          <a:ln/>
        </p:spPr>
      </p:sp>
      <p:sp>
        <p:nvSpPr>
          <p:cNvPr id="46" name="Text 28"/>
          <p:cNvSpPr/>
          <p:nvPr/>
        </p:nvSpPr>
        <p:spPr>
          <a:xfrm>
            <a:off x="4727448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Bewertet 2</a:t>
            </a:r>
            <a:endParaRPr lang="en-US" sz="95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7448" y="4974336"/>
            <a:ext cx="137160" cy="137160"/>
          </a:xfrm>
          <a:prstGeom prst="rect">
            <a:avLst/>
          </a:prstGeom>
        </p:spPr>
      </p:pic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01184" y="4974336"/>
            <a:ext cx="137160" cy="137160"/>
          </a:xfrm>
          <a:prstGeom prst="rect">
            <a:avLst/>
          </a:prstGeom>
        </p:spPr>
      </p:pic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74920" y="4974336"/>
            <a:ext cx="137160" cy="137160"/>
          </a:xfrm>
          <a:prstGeom prst="rect">
            <a:avLst/>
          </a:prstGeom>
        </p:spPr>
      </p:pic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48656" y="4974336"/>
            <a:ext cx="137160" cy="137160"/>
          </a:xfrm>
          <a:prstGeom prst="rect">
            <a:avLst/>
          </a:prstGeom>
        </p:spPr>
      </p:pic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22392" y="4974336"/>
            <a:ext cx="137160" cy="137160"/>
          </a:xfrm>
          <a:prstGeom prst="rect">
            <a:avLst/>
          </a:prstGeom>
        </p:spPr>
      </p:pic>
      <p:sp>
        <p:nvSpPr>
          <p:cNvPr id="52" name="Shape 29"/>
          <p:cNvSpPr/>
          <p:nvPr/>
        </p:nvSpPr>
        <p:spPr>
          <a:xfrm>
            <a:off x="7818120" y="1645920"/>
            <a:ext cx="370332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53" name="Shape 30"/>
          <p:cNvSpPr/>
          <p:nvPr/>
        </p:nvSpPr>
        <p:spPr>
          <a:xfrm>
            <a:off x="801928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9016" y="1956816"/>
            <a:ext cx="237744" cy="237744"/>
          </a:xfrm>
          <a:prstGeom prst="rect">
            <a:avLst/>
          </a:prstGeom>
        </p:spPr>
      </p:pic>
      <p:sp>
        <p:nvSpPr>
          <p:cNvPr id="55" name="Text 31"/>
          <p:cNvSpPr/>
          <p:nvPr/>
        </p:nvSpPr>
        <p:spPr>
          <a:xfrm>
            <a:off x="8641080" y="179222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Umgesetzt</a:t>
            </a:r>
            <a:endParaRPr lang="en-US" sz="1500" dirty="0"/>
          </a:p>
        </p:txBody>
      </p:sp>
      <p:sp>
        <p:nvSpPr>
          <p:cNvPr id="56" name="Text 32"/>
          <p:cNvSpPr/>
          <p:nvPr/>
        </p:nvSpPr>
        <p:spPr>
          <a:xfrm>
            <a:off x="8074152" y="2450592"/>
            <a:ext cx="319125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nach Typ (Film / Serie / Anime)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Ergebnisliste mit Poster, Jahr &amp; Kurzbeschreibung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1–5-Sterne-Bewertung per Klick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Übersicht „Meine Bewertungen“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– Stand &amp; nächste Schritte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Stand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Spring-Boot-Kontexttest (DemoApplicationTests) sichert den Startvorgang ab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End-to-End-Tests der Kernabläufe (Suche, Bewertung, Persistenz)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FACC15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 bis zur Prüfung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für RatingController (Validierung, Upsert-Logik)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Integrationstests mit WireMock-Stubs für IMDb/Jikan/AniList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Automatisierter Testlauf über mvn test in der CI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REPRODUZIERBARKEIT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Lokal starten &amp; Stand der Dokumentation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vorhanden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mit Setup-Anleitung (Öffnen von index.html bzw. lokaler Server)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mvnw / mvnw.cmd für plattformunabhängigen Maven-Start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Versionskontrolle über Git/GitHub (Repository sugoona)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FACC15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Punkte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 bzw. Docker-Compose-Setup für DB + Backend steht noch aus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Zugangsdaten aktuell in application.properties statt als Umgebungsvariable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Ein-Klick-Start ohne manuelle DB-Konfiguration ist nächster Schritt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Herausforderungen &amp; Learnings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MS4 – Implementierung &amp;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Uneinheitliche API-Formate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249631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IMDb, Jikan und AniList liefern unterschiedliche Felder – eine gemeinsame Normalisierung im Controller war nötig.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69164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025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Verfügbarkeit externer Dienste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75888" y="249631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Jikan reagiert zeitweise langsam/fehlerhaft – Anlass für die AniList-Fallback-Strategie.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169164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0025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Reaktive Programmierung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55664" y="249631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Berührung mit WebClient/Reactor statt klassischer synchroner REST-Clients.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79408" y="169164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80576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002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02368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Selbstorganisation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35440" y="249631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Sprint-Rhythmus und Backlog-Pflege in Jira als neue Arbeitsweise im Team etabliert.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funktionsfähiger MVP für Sugoonaboxd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Suche, Bewertung und Persistenz über drei externe APIs hinweg – bereit für die Live-Demo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Schritte: Docker-Setup, erweiterte Tests, Mehrbenutzerfähigkeit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HTW Berlin – Internationale Medieninformatik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Sugoonaboxd – MS4 Implementierung &amp; Deployment</dc:title>
  <dc:subject>PptxGenJS Presentation</dc:subject>
  <dc:creator>Mandy Nguyen, Luca Hoffmann, Emily Nguyen</dc:creator>
  <cp:lastModifiedBy>Mandy Nguyen, Luca Hoffmann, Emily Nguyen</cp:lastModifiedBy>
  <cp:revision>1</cp:revision>
  <dcterms:created xsi:type="dcterms:W3CDTF">2026-07-09T14:44:31Z</dcterms:created>
  <dcterms:modified xsi:type="dcterms:W3CDTF">2026-07-09T14:44:31Z</dcterms:modified>
</cp:coreProperties>
</file>