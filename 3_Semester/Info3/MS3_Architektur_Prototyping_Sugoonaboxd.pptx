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436815" y="-2377440"/>
            <a:ext cx="6858000" cy="6858000"/>
          </a:xfrm>
          <a:prstGeom prst="ellipse">
            <a:avLst/>
          </a:prstGeom>
          <a:solidFill>
            <a:srgbClr val="1D2740">
              <a:alpha val="6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2926080" y="3931920"/>
            <a:ext cx="5486400" cy="5486400"/>
          </a:xfrm>
          <a:prstGeom prst="ellipse">
            <a:avLst/>
          </a:prstGeom>
          <a:solidFill>
            <a:srgbClr val="0EA5E9">
              <a:alpha val="18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41732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300" kern="0" dirty="0">
                <a:solidFill>
                  <a:srgbClr val="FACC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MEILENSTEIN 3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777240" y="1874520"/>
            <a:ext cx="1005840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Architektur &amp; Prototyping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822960" y="3246120"/>
            <a:ext cx="9601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Systemarchitektur, Schnittstellen und ein erstes lauffähiges Grundgerüst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22960" y="598932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Mandy Nguyen · Luca Hoffmann · Emily Nguyen   |   Informatik 3, HTW Berlin, SoSe 2026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77240" y="932688"/>
            <a:ext cx="914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FACC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</a:t>
            </a:r>
            <a:endParaRPr lang="en-US" sz="2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ARCHITEKTURÜBERBLICK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0607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Schichtenarchitektur im Client-Server-Modell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6528816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Sugoonaboxd · MS3 – Architektur &amp; Prototyping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185855" y="6528816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640080" y="1691640"/>
            <a:ext cx="6675120" cy="1051560"/>
          </a:xfrm>
          <a:prstGeom prst="roundRect">
            <a:avLst>
              <a:gd name="adj" fmla="val 6957"/>
            </a:avLst>
          </a:prstGeom>
          <a:solidFill>
            <a:srgbClr val="0EA5E9"/>
          </a:solidFill>
          <a:ln/>
          <a:effectLst>
            <a:outerShdw sx="100000" sy="100000" kx="0" ky="0" algn="bl" rotWithShape="0" blurRad="101600" dist="25400" dir="2700000">
              <a:srgbClr val="0B122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868680" y="1943100"/>
            <a:ext cx="548640" cy="548640"/>
          </a:xfrm>
          <a:prstGeom prst="ellipse">
            <a:avLst/>
          </a:prstGeom>
          <a:solidFill>
            <a:srgbClr val="FFFFFF">
              <a:alpha val="18000"/>
            </a:srgbClr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5840" y="2080260"/>
            <a:ext cx="274320" cy="27432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600200" y="178308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1600200" y="219456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A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Browser · HTML, CSS, Vanilla JavaScript (index.html / script.js)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3977640" y="2743200"/>
            <a:ext cx="0" cy="201168"/>
          </a:xfrm>
          <a:prstGeom prst="line">
            <a:avLst/>
          </a:prstGeom>
          <a:noFill/>
          <a:ln w="22225">
            <a:solidFill>
              <a:srgbClr val="94A3B8"/>
            </a:solidFill>
            <a:prstDash val="solid"/>
            <a:tailEnd type="triangle"/>
          </a:ln>
        </p:spPr>
      </p:sp>
      <p:sp>
        <p:nvSpPr>
          <p:cNvPr id="12" name="Shape 9"/>
          <p:cNvSpPr/>
          <p:nvPr/>
        </p:nvSpPr>
        <p:spPr>
          <a:xfrm>
            <a:off x="640080" y="2944368"/>
            <a:ext cx="6675120" cy="1051560"/>
          </a:xfrm>
          <a:prstGeom prst="roundRect">
            <a:avLst>
              <a:gd name="adj" fmla="val 6957"/>
            </a:avLst>
          </a:prstGeom>
          <a:solidFill>
            <a:srgbClr val="0B1220"/>
          </a:solidFill>
          <a:ln/>
          <a:effectLst>
            <a:outerShdw sx="100000" sy="100000" kx="0" ky="0" algn="bl" rotWithShape="0" blurRad="101600" dist="25400" dir="2700000">
              <a:srgbClr val="0B1220">
                <a:alpha val="12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868680" y="3195828"/>
            <a:ext cx="548640" cy="548640"/>
          </a:xfrm>
          <a:prstGeom prst="ellipse">
            <a:avLst/>
          </a:prstGeom>
          <a:solidFill>
            <a:srgbClr val="FFFFFF">
              <a:alpha val="18000"/>
            </a:srgbClr>
          </a:solidFill>
          <a:ln/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" y="3332988"/>
            <a:ext cx="274320" cy="27432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1600200" y="3035808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</a:t>
            </a:r>
            <a:endParaRPr lang="en-US" sz="1600" dirty="0"/>
          </a:p>
        </p:txBody>
      </p:sp>
      <p:sp>
        <p:nvSpPr>
          <p:cNvPr id="16" name="Text 12"/>
          <p:cNvSpPr/>
          <p:nvPr/>
        </p:nvSpPr>
        <p:spPr>
          <a:xfrm>
            <a:off x="1600200" y="3447288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 Boot 3.5 · Controller &amp; Geschäftslogik (Java 17)</a:t>
            </a:r>
            <a:endParaRPr lang="en-US" sz="1200" dirty="0"/>
          </a:p>
        </p:txBody>
      </p:sp>
      <p:sp>
        <p:nvSpPr>
          <p:cNvPr id="17" name="Shape 13"/>
          <p:cNvSpPr/>
          <p:nvPr/>
        </p:nvSpPr>
        <p:spPr>
          <a:xfrm>
            <a:off x="3977640" y="3995928"/>
            <a:ext cx="0" cy="201168"/>
          </a:xfrm>
          <a:prstGeom prst="line">
            <a:avLst/>
          </a:prstGeom>
          <a:noFill/>
          <a:ln w="22225">
            <a:solidFill>
              <a:srgbClr val="94A3B8"/>
            </a:solidFill>
            <a:prstDash val="solid"/>
            <a:tailEnd type="triangle"/>
          </a:ln>
        </p:spPr>
      </p:sp>
      <p:sp>
        <p:nvSpPr>
          <p:cNvPr id="18" name="Shape 14"/>
          <p:cNvSpPr/>
          <p:nvPr/>
        </p:nvSpPr>
        <p:spPr>
          <a:xfrm>
            <a:off x="640080" y="4197096"/>
            <a:ext cx="6675120" cy="1051560"/>
          </a:xfrm>
          <a:prstGeom prst="roundRect">
            <a:avLst>
              <a:gd name="adj" fmla="val 6957"/>
            </a:avLst>
          </a:prstGeom>
          <a:solidFill>
            <a:srgbClr val="1D2740"/>
          </a:solidFill>
          <a:ln/>
          <a:effectLst>
            <a:outerShdw sx="100000" sy="100000" kx="0" ky="0" algn="bl" rotWithShape="0" blurRad="101600" dist="25400" dir="2700000">
              <a:srgbClr val="0B1220">
                <a:alpha val="12000"/>
              </a:srgbClr>
            </a:outerShdw>
          </a:effectLst>
        </p:spPr>
      </p:sp>
      <p:sp>
        <p:nvSpPr>
          <p:cNvPr id="19" name="Shape 15"/>
          <p:cNvSpPr/>
          <p:nvPr/>
        </p:nvSpPr>
        <p:spPr>
          <a:xfrm>
            <a:off x="868680" y="4448556"/>
            <a:ext cx="548640" cy="548640"/>
          </a:xfrm>
          <a:prstGeom prst="ellipse">
            <a:avLst/>
          </a:prstGeom>
          <a:solidFill>
            <a:srgbClr val="FFFFFF">
              <a:alpha val="18000"/>
            </a:srgbClr>
          </a:solidFill>
          <a:ln/>
        </p:spPr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5840" y="4585716"/>
            <a:ext cx="274320" cy="274320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1600200" y="4288536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Datenhaltung</a:t>
            </a:r>
            <a:endParaRPr lang="en-US" sz="1600" dirty="0"/>
          </a:p>
        </p:txBody>
      </p:sp>
      <p:sp>
        <p:nvSpPr>
          <p:cNvPr id="22" name="Text 17"/>
          <p:cNvSpPr/>
          <p:nvPr/>
        </p:nvSpPr>
        <p:spPr>
          <a:xfrm>
            <a:off x="1600200" y="4700016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via Spring Data JPA (Hibernate)</a:t>
            </a:r>
            <a:endParaRPr lang="en-US" sz="1200" dirty="0"/>
          </a:p>
        </p:txBody>
      </p:sp>
      <p:sp>
        <p:nvSpPr>
          <p:cNvPr id="23" name="Shape 18"/>
          <p:cNvSpPr/>
          <p:nvPr/>
        </p:nvSpPr>
        <p:spPr>
          <a:xfrm>
            <a:off x="8549640" y="2148840"/>
            <a:ext cx="2971800" cy="3291840"/>
          </a:xfrm>
          <a:prstGeom prst="roundRect">
            <a:avLst>
              <a:gd name="adj" fmla="val 2462"/>
            </a:avLst>
          </a:prstGeom>
          <a:solidFill>
            <a:srgbClr val="F7F8FC"/>
          </a:solidFill>
          <a:ln w="19050">
            <a:solidFill>
              <a:srgbClr val="0EA5E9"/>
            </a:solidFill>
            <a:prstDash val="solid"/>
          </a:ln>
        </p:spPr>
      </p:sp>
      <p:sp>
        <p:nvSpPr>
          <p:cNvPr id="24" name="Text 19"/>
          <p:cNvSpPr/>
          <p:nvPr/>
        </p:nvSpPr>
        <p:spPr>
          <a:xfrm>
            <a:off x="8549640" y="2313432"/>
            <a:ext cx="2971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Externe REST-APIs</a:t>
            </a:r>
            <a:endParaRPr lang="en-US" sz="1300" dirty="0"/>
          </a:p>
        </p:txBody>
      </p:sp>
      <p:sp>
        <p:nvSpPr>
          <p:cNvPr id="25" name="Shape 20"/>
          <p:cNvSpPr/>
          <p:nvPr/>
        </p:nvSpPr>
        <p:spPr>
          <a:xfrm>
            <a:off x="8823960" y="2834640"/>
            <a:ext cx="2423160" cy="54864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1"/>
          <p:cNvSpPr/>
          <p:nvPr/>
        </p:nvSpPr>
        <p:spPr>
          <a:xfrm>
            <a:off x="8823960" y="2834640"/>
            <a:ext cx="2423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IMDb API</a:t>
            </a:r>
            <a:endParaRPr lang="en-US" sz="1200" dirty="0"/>
          </a:p>
        </p:txBody>
      </p:sp>
      <p:sp>
        <p:nvSpPr>
          <p:cNvPr id="27" name="Shape 22"/>
          <p:cNvSpPr/>
          <p:nvPr/>
        </p:nvSpPr>
        <p:spPr>
          <a:xfrm>
            <a:off x="8823960" y="3611880"/>
            <a:ext cx="2423160" cy="54864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8" name="Text 23"/>
          <p:cNvSpPr/>
          <p:nvPr/>
        </p:nvSpPr>
        <p:spPr>
          <a:xfrm>
            <a:off x="8823960" y="3611880"/>
            <a:ext cx="2423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Jikan</a:t>
            </a:r>
            <a:endParaRPr lang="en-US" sz="1200" dirty="0"/>
          </a:p>
        </p:txBody>
      </p:sp>
      <p:sp>
        <p:nvSpPr>
          <p:cNvPr id="29" name="Shape 24"/>
          <p:cNvSpPr/>
          <p:nvPr/>
        </p:nvSpPr>
        <p:spPr>
          <a:xfrm>
            <a:off x="8823960" y="4389120"/>
            <a:ext cx="2423160" cy="54864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0" name="Text 25"/>
          <p:cNvSpPr/>
          <p:nvPr/>
        </p:nvSpPr>
        <p:spPr>
          <a:xfrm>
            <a:off x="8823960" y="4389120"/>
            <a:ext cx="2423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AniList (Fallback)</a:t>
            </a:r>
            <a:endParaRPr lang="en-US" sz="1200" dirty="0"/>
          </a:p>
        </p:txBody>
      </p:sp>
      <p:sp>
        <p:nvSpPr>
          <p:cNvPr id="31" name="Shape 26"/>
          <p:cNvSpPr/>
          <p:nvPr/>
        </p:nvSpPr>
        <p:spPr>
          <a:xfrm>
            <a:off x="7315200" y="3470148"/>
            <a:ext cx="1234440" cy="324612"/>
          </a:xfrm>
          <a:prstGeom prst="line">
            <a:avLst/>
          </a:prstGeom>
          <a:noFill/>
          <a:ln w="22225">
            <a:solidFill>
              <a:srgbClr val="0EA5E9"/>
            </a:solidFill>
            <a:prstDash val="solid"/>
            <a:tailEnd type="triangle"/>
          </a:ln>
        </p:spPr>
      </p:sp>
      <p:sp>
        <p:nvSpPr>
          <p:cNvPr id="32" name="Text 27"/>
          <p:cNvSpPr/>
          <p:nvPr/>
        </p:nvSpPr>
        <p:spPr>
          <a:xfrm>
            <a:off x="7406640" y="2670048"/>
            <a:ext cx="11430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 via WebClient (reactive)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KOMPONENTENDIAGRAMM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0607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Bausteine von Frontend und Backend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6528816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Sugoonaboxd · MS3 – Architektur &amp; Prototyping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185855" y="6528816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640080" y="1645920"/>
            <a:ext cx="3200400" cy="4206240"/>
          </a:xfrm>
          <a:prstGeom prst="roundRect">
            <a:avLst>
              <a:gd name="adj" fmla="val 2286"/>
            </a:avLst>
          </a:prstGeom>
          <a:solidFill>
            <a:srgbClr val="F7F8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178308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868680" y="2286000"/>
            <a:ext cx="2743200" cy="777240"/>
          </a:xfrm>
          <a:prstGeom prst="roundRect">
            <a:avLst>
              <a:gd name="adj" fmla="val 8235"/>
            </a:avLst>
          </a:prstGeom>
          <a:solidFill>
            <a:srgbClr val="FFFFFF"/>
          </a:solidFill>
          <a:ln w="15875">
            <a:solidFill>
              <a:srgbClr val="0EA5E9"/>
            </a:solidFill>
            <a:prstDash val="solid"/>
          </a:ln>
          <a:effectLst>
            <a:outerShdw sx="100000" sy="100000" kx="0" ky="0" algn="bl" rotWithShape="0" blurRad="76200" dist="25400" dir="2700000">
              <a:srgbClr val="0B1220">
                <a:alpha val="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868680" y="2286000"/>
            <a:ext cx="2743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index.html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868680" y="3337560"/>
            <a:ext cx="2743200" cy="777240"/>
          </a:xfrm>
          <a:prstGeom prst="roundRect">
            <a:avLst>
              <a:gd name="adj" fmla="val 8235"/>
            </a:avLst>
          </a:prstGeom>
          <a:solidFill>
            <a:srgbClr val="FFFFFF"/>
          </a:solidFill>
          <a:ln w="15875">
            <a:solidFill>
              <a:srgbClr val="0EA5E9"/>
            </a:solidFill>
            <a:prstDash val="solid"/>
          </a:ln>
          <a:effectLst>
            <a:outerShdw sx="100000" sy="100000" kx="0" ky="0" algn="bl" rotWithShape="0" blurRad="76200" dist="25400" dir="2700000">
              <a:srgbClr val="0B1220">
                <a:alpha val="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868680" y="3337560"/>
            <a:ext cx="2743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script.js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868680" y="4389120"/>
            <a:ext cx="2743200" cy="777240"/>
          </a:xfrm>
          <a:prstGeom prst="roundRect">
            <a:avLst>
              <a:gd name="adj" fmla="val 8235"/>
            </a:avLst>
          </a:prstGeom>
          <a:solidFill>
            <a:srgbClr val="FFFFFF"/>
          </a:solidFill>
          <a:ln w="15875">
            <a:solidFill>
              <a:srgbClr val="0EA5E9"/>
            </a:solidFill>
            <a:prstDash val="solid"/>
          </a:ln>
          <a:effectLst>
            <a:outerShdw sx="100000" sy="100000" kx="0" ky="0" algn="bl" rotWithShape="0" blurRad="76200" dist="25400" dir="2700000">
              <a:srgbClr val="0B1220">
                <a:alpha val="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868680" y="4389120"/>
            <a:ext cx="2743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styles.css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251960" y="1645920"/>
            <a:ext cx="4206240" cy="4206240"/>
          </a:xfrm>
          <a:prstGeom prst="roundRect">
            <a:avLst>
              <a:gd name="adj" fmla="val 1739"/>
            </a:avLst>
          </a:prstGeom>
          <a:solidFill>
            <a:srgbClr val="0B1220"/>
          </a:solidFill>
          <a:ln/>
        </p:spPr>
      </p:sp>
      <p:sp>
        <p:nvSpPr>
          <p:cNvPr id="15" name="Text 13"/>
          <p:cNvSpPr/>
          <p:nvPr/>
        </p:nvSpPr>
        <p:spPr>
          <a:xfrm>
            <a:off x="4251960" y="1783080"/>
            <a:ext cx="4206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(Spring Boot)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480560" y="2286000"/>
            <a:ext cx="3749040" cy="777240"/>
          </a:xfrm>
          <a:prstGeom prst="roundRect">
            <a:avLst>
              <a:gd name="adj" fmla="val 8235"/>
            </a:avLst>
          </a:prstGeom>
          <a:solidFill>
            <a:srgbClr val="1D2740"/>
          </a:solidFill>
          <a:ln/>
        </p:spPr>
      </p:sp>
      <p:sp>
        <p:nvSpPr>
          <p:cNvPr id="17" name="Text 15"/>
          <p:cNvSpPr/>
          <p:nvPr/>
        </p:nvSpPr>
        <p:spPr>
          <a:xfrm>
            <a:off x="4480560" y="2286000"/>
            <a:ext cx="3749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ExternalApiController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4480560" y="3337560"/>
            <a:ext cx="3749040" cy="777240"/>
          </a:xfrm>
          <a:prstGeom prst="roundRect">
            <a:avLst>
              <a:gd name="adj" fmla="val 8235"/>
            </a:avLst>
          </a:prstGeom>
          <a:solidFill>
            <a:srgbClr val="1D2740"/>
          </a:solidFill>
          <a:ln/>
        </p:spPr>
      </p:sp>
      <p:sp>
        <p:nvSpPr>
          <p:cNvPr id="19" name="Text 17"/>
          <p:cNvSpPr/>
          <p:nvPr/>
        </p:nvSpPr>
        <p:spPr>
          <a:xfrm>
            <a:off x="4480560" y="3337560"/>
            <a:ext cx="3749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RatingController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4480560" y="4389120"/>
            <a:ext cx="3749040" cy="777240"/>
          </a:xfrm>
          <a:prstGeom prst="roundRect">
            <a:avLst>
              <a:gd name="adj" fmla="val 8235"/>
            </a:avLst>
          </a:prstGeom>
          <a:solidFill>
            <a:srgbClr val="1D2740"/>
          </a:solidFill>
          <a:ln/>
        </p:spPr>
      </p:sp>
      <p:sp>
        <p:nvSpPr>
          <p:cNvPr id="21" name="Text 19"/>
          <p:cNvSpPr/>
          <p:nvPr/>
        </p:nvSpPr>
        <p:spPr>
          <a:xfrm>
            <a:off x="4480560" y="4389120"/>
            <a:ext cx="3749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RatingRepository ⇄ Rating (Entity)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8915400" y="2286000"/>
            <a:ext cx="2606040" cy="777240"/>
          </a:xfrm>
          <a:prstGeom prst="roundRect">
            <a:avLst>
              <a:gd name="adj" fmla="val 8235"/>
            </a:avLst>
          </a:prstGeom>
          <a:solidFill>
            <a:srgbClr val="FFFFFF"/>
          </a:solidFill>
          <a:ln w="15875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2700000">
              <a:srgbClr val="0B1220">
                <a:alpha val="8000"/>
              </a:srgbClr>
            </a:outerShdw>
          </a:effectLst>
        </p:spPr>
      </p:sp>
      <p:pic>
        <p:nvPicPr>
          <p:cNvPr id="2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098280" y="2468880"/>
            <a:ext cx="320040" cy="320040"/>
          </a:xfrm>
          <a:prstGeom prst="rect">
            <a:avLst/>
          </a:prstGeom>
        </p:spPr>
      </p:pic>
      <p:sp>
        <p:nvSpPr>
          <p:cNvPr id="24" name="Shape 21"/>
          <p:cNvSpPr/>
          <p:nvPr/>
        </p:nvSpPr>
        <p:spPr>
          <a:xfrm>
            <a:off x="9052560" y="2423160"/>
            <a:ext cx="411480" cy="411480"/>
          </a:xfrm>
          <a:prstGeom prst="ellipse">
            <a:avLst/>
          </a:prstGeom>
          <a:solidFill>
            <a:srgbClr val="38BDF8"/>
          </a:solidFill>
          <a:ln/>
        </p:spPr>
      </p:sp>
      <p:pic>
        <p:nvPicPr>
          <p:cNvPr id="2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0" y="2514600"/>
            <a:ext cx="228600" cy="228600"/>
          </a:xfrm>
          <a:prstGeom prst="rect">
            <a:avLst/>
          </a:prstGeom>
        </p:spPr>
      </p:pic>
      <p:sp>
        <p:nvSpPr>
          <p:cNvPr id="26" name="Text 22"/>
          <p:cNvSpPr/>
          <p:nvPr/>
        </p:nvSpPr>
        <p:spPr>
          <a:xfrm>
            <a:off x="9555480" y="2286000"/>
            <a:ext cx="1874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</a:t>
            </a:r>
            <a:endParaRPr lang="en-US" sz="1300" dirty="0"/>
          </a:p>
        </p:txBody>
      </p:sp>
      <p:sp>
        <p:nvSpPr>
          <p:cNvPr id="27" name="Shape 23"/>
          <p:cNvSpPr/>
          <p:nvPr/>
        </p:nvSpPr>
        <p:spPr>
          <a:xfrm>
            <a:off x="3611880" y="2670048"/>
            <a:ext cx="868680" cy="0"/>
          </a:xfrm>
          <a:prstGeom prst="line">
            <a:avLst/>
          </a:prstGeom>
          <a:noFill/>
          <a:ln w="22225">
            <a:solidFill>
              <a:srgbClr val="94A3B8"/>
            </a:solidFill>
            <a:prstDash val="solid"/>
            <a:tailEnd type="triangle"/>
          </a:ln>
        </p:spPr>
      </p:sp>
      <p:sp>
        <p:nvSpPr>
          <p:cNvPr id="28" name="Shape 24"/>
          <p:cNvSpPr/>
          <p:nvPr/>
        </p:nvSpPr>
        <p:spPr>
          <a:xfrm flipV="1">
            <a:off x="3611880" y="3337560"/>
            <a:ext cx="868680" cy="384048"/>
          </a:xfrm>
          <a:prstGeom prst="line">
            <a:avLst/>
          </a:prstGeom>
          <a:noFill/>
          <a:ln w="22225">
            <a:solidFill>
              <a:srgbClr val="94A3B8"/>
            </a:solidFill>
            <a:prstDash val="solid"/>
            <a:tailEnd type="triangle"/>
          </a:ln>
        </p:spPr>
      </p:sp>
      <p:sp>
        <p:nvSpPr>
          <p:cNvPr id="29" name="Shape 25"/>
          <p:cNvSpPr/>
          <p:nvPr/>
        </p:nvSpPr>
        <p:spPr>
          <a:xfrm flipV="1">
            <a:off x="8229600" y="2670048"/>
            <a:ext cx="685800" cy="1051560"/>
          </a:xfrm>
          <a:prstGeom prst="line">
            <a:avLst/>
          </a:prstGeom>
          <a:noFill/>
          <a:ln w="22225">
            <a:solidFill>
              <a:srgbClr val="0EA5E9"/>
            </a:solidFill>
            <a:prstDash val="solid"/>
            <a:tailEnd type="triangle"/>
          </a:ln>
        </p:spPr>
      </p:sp>
      <p:sp>
        <p:nvSpPr>
          <p:cNvPr id="30" name="Text 26"/>
          <p:cNvSpPr/>
          <p:nvPr/>
        </p:nvSpPr>
        <p:spPr>
          <a:xfrm>
            <a:off x="3611880" y="2423160"/>
            <a:ext cx="868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 / REST</a:t>
            </a:r>
            <a:endParaRPr lang="en-US" sz="900" dirty="0"/>
          </a:p>
        </p:txBody>
      </p:sp>
      <p:sp>
        <p:nvSpPr>
          <p:cNvPr id="31" name="Text 27"/>
          <p:cNvSpPr/>
          <p:nvPr/>
        </p:nvSpPr>
        <p:spPr>
          <a:xfrm>
            <a:off x="8485632" y="3127248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JPA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SCHNITTSTELLENDEFINITION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0607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REST-Endpunkte des Backends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6528816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Sugoonaboxd · MS3 – Architektur &amp; Prototyping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185855" y="6528816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691640"/>
          <a:ext cx="10881360" cy="3108960"/>
        </p:xfrm>
        <a:graphic>
          <a:graphicData uri="http://schemas.openxmlformats.org/drawingml/2006/table">
            <a:tbl>
              <a:tblPr/>
              <a:tblGrid>
                <a:gridCol w="1188720"/>
                <a:gridCol w="2468880"/>
                <a:gridCol w="2377440"/>
                <a:gridCol w="4846320"/>
              </a:tblGrid>
              <a:tr h="6217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Methode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22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Pfad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22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Parameter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22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Zweck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220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EA5E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0F172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/api/search</a:t>
                      </a:r>
                      <a:endParaRPr lang="en-US" sz="11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type, query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Suche über IMDb API oder Jikan/AniList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EA5E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0F172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/api/title-details</a:t>
                      </a:r>
                      <a:endParaRPr lang="en-US" sz="11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id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Nachladen von Plot, Poster, Genres (IMDb)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EA5E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0F172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/api/ratings</a:t>
                      </a:r>
                      <a:endParaRPr lang="en-US" sz="11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–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Alle Bewertungen, neueste zuerst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CA8A0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POST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0F172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/api/ratings</a:t>
                      </a:r>
                      <a:endParaRPr lang="en-US" sz="11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JSON-Body (Rating)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Bewertung anlegen oder aktualisieren (Upsert)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640080" y="4983480"/>
            <a:ext cx="10881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Alle Endpunkte liegen unter /api und werden vom Frontend per fetch() konsumiert; CORS ist für die Entwicklung offen (@CrossOrigin).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SEQUENZDIAGRAMM (OPTIONAL)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0607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Ablauf: Nutzer:in bewertet einen Titel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6528816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Sugoonaboxd · MS3 – Architektur &amp; Prototyping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185855" y="6528816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822960" y="1691640"/>
            <a:ext cx="1965960" cy="502920"/>
          </a:xfrm>
          <a:prstGeom prst="roundRect">
            <a:avLst>
              <a:gd name="adj" fmla="val 10909"/>
            </a:avLst>
          </a:prstGeom>
          <a:solidFill>
            <a:srgbClr val="0B1220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1691640"/>
            <a:ext cx="1965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Nutzer:in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1805940" y="2331720"/>
            <a:ext cx="0" cy="3794760"/>
          </a:xfrm>
          <a:prstGeom prst="line">
            <a:avLst/>
          </a:prstGeom>
          <a:noFill/>
          <a:ln w="12700">
            <a:solidFill>
              <a:srgbClr val="E2E8F0"/>
            </a:solidFill>
            <a:prstDash val="dash"/>
          </a:ln>
        </p:spPr>
      </p:sp>
      <p:sp>
        <p:nvSpPr>
          <p:cNvPr id="9" name="Shape 7"/>
          <p:cNvSpPr/>
          <p:nvPr/>
        </p:nvSpPr>
        <p:spPr>
          <a:xfrm>
            <a:off x="2971800" y="1691640"/>
            <a:ext cx="1965960" cy="502920"/>
          </a:xfrm>
          <a:prstGeom prst="roundRect">
            <a:avLst>
              <a:gd name="adj" fmla="val 10909"/>
            </a:avLst>
          </a:prstGeom>
          <a:solidFill>
            <a:srgbClr val="0B1220"/>
          </a:solidFill>
          <a:ln/>
        </p:spPr>
      </p:sp>
      <p:sp>
        <p:nvSpPr>
          <p:cNvPr id="10" name="Text 8"/>
          <p:cNvSpPr/>
          <p:nvPr/>
        </p:nvSpPr>
        <p:spPr>
          <a:xfrm>
            <a:off x="2971800" y="1691640"/>
            <a:ext cx="1965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(script.js)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954780" y="2331720"/>
            <a:ext cx="0" cy="3794760"/>
          </a:xfrm>
          <a:prstGeom prst="line">
            <a:avLst/>
          </a:prstGeom>
          <a:noFill/>
          <a:ln w="12700">
            <a:solidFill>
              <a:srgbClr val="E2E8F0"/>
            </a:solidFill>
            <a:prstDash val="dash"/>
          </a:ln>
        </p:spPr>
      </p:sp>
      <p:sp>
        <p:nvSpPr>
          <p:cNvPr id="12" name="Shape 10"/>
          <p:cNvSpPr/>
          <p:nvPr/>
        </p:nvSpPr>
        <p:spPr>
          <a:xfrm>
            <a:off x="5120640" y="1691640"/>
            <a:ext cx="1965960" cy="502920"/>
          </a:xfrm>
          <a:prstGeom prst="roundRect">
            <a:avLst>
              <a:gd name="adj" fmla="val 10909"/>
            </a:avLst>
          </a:prstGeom>
          <a:solidFill>
            <a:srgbClr val="0B1220"/>
          </a:solidFill>
          <a:ln/>
        </p:spPr>
      </p:sp>
      <p:sp>
        <p:nvSpPr>
          <p:cNvPr id="13" name="Text 11"/>
          <p:cNvSpPr/>
          <p:nvPr/>
        </p:nvSpPr>
        <p:spPr>
          <a:xfrm>
            <a:off x="5120640" y="1691640"/>
            <a:ext cx="1965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RatingController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103620" y="2331720"/>
            <a:ext cx="0" cy="3794760"/>
          </a:xfrm>
          <a:prstGeom prst="line">
            <a:avLst/>
          </a:prstGeom>
          <a:noFill/>
          <a:ln w="12700">
            <a:solidFill>
              <a:srgbClr val="E2E8F0"/>
            </a:solidFill>
            <a:prstDash val="dash"/>
          </a:ln>
        </p:spPr>
      </p:sp>
      <p:sp>
        <p:nvSpPr>
          <p:cNvPr id="15" name="Shape 13"/>
          <p:cNvSpPr/>
          <p:nvPr/>
        </p:nvSpPr>
        <p:spPr>
          <a:xfrm>
            <a:off x="7269480" y="1691640"/>
            <a:ext cx="1965960" cy="502920"/>
          </a:xfrm>
          <a:prstGeom prst="roundRect">
            <a:avLst>
              <a:gd name="adj" fmla="val 10909"/>
            </a:avLst>
          </a:prstGeom>
          <a:solidFill>
            <a:srgbClr val="0B1220"/>
          </a:solidFill>
          <a:ln/>
        </p:spPr>
      </p:sp>
      <p:sp>
        <p:nvSpPr>
          <p:cNvPr id="16" name="Text 14"/>
          <p:cNvSpPr/>
          <p:nvPr/>
        </p:nvSpPr>
        <p:spPr>
          <a:xfrm>
            <a:off x="7269480" y="1691640"/>
            <a:ext cx="1965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RatingRepository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8252460" y="2331720"/>
            <a:ext cx="0" cy="3794760"/>
          </a:xfrm>
          <a:prstGeom prst="line">
            <a:avLst/>
          </a:prstGeom>
          <a:noFill/>
          <a:ln w="12700">
            <a:solidFill>
              <a:srgbClr val="E2E8F0"/>
            </a:solidFill>
            <a:prstDash val="dash"/>
          </a:ln>
        </p:spPr>
      </p:sp>
      <p:sp>
        <p:nvSpPr>
          <p:cNvPr id="18" name="Shape 16"/>
          <p:cNvSpPr/>
          <p:nvPr/>
        </p:nvSpPr>
        <p:spPr>
          <a:xfrm>
            <a:off x="9418320" y="1691640"/>
            <a:ext cx="1965960" cy="502920"/>
          </a:xfrm>
          <a:prstGeom prst="roundRect">
            <a:avLst>
              <a:gd name="adj" fmla="val 10909"/>
            </a:avLst>
          </a:prstGeom>
          <a:solidFill>
            <a:srgbClr val="0B1220"/>
          </a:solidFill>
          <a:ln/>
        </p:spPr>
      </p:sp>
      <p:sp>
        <p:nvSpPr>
          <p:cNvPr id="19" name="Text 17"/>
          <p:cNvSpPr/>
          <p:nvPr/>
        </p:nvSpPr>
        <p:spPr>
          <a:xfrm>
            <a:off x="9418320" y="1691640"/>
            <a:ext cx="1965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10401300" y="2331720"/>
            <a:ext cx="0" cy="3794760"/>
          </a:xfrm>
          <a:prstGeom prst="line">
            <a:avLst/>
          </a:prstGeom>
          <a:noFill/>
          <a:ln w="12700">
            <a:solidFill>
              <a:srgbClr val="E2E8F0"/>
            </a:solidFill>
            <a:prstDash val="dash"/>
          </a:ln>
        </p:spPr>
      </p:sp>
      <p:sp>
        <p:nvSpPr>
          <p:cNvPr id="21" name="Shape 19"/>
          <p:cNvSpPr/>
          <p:nvPr/>
        </p:nvSpPr>
        <p:spPr>
          <a:xfrm>
            <a:off x="1805940" y="2606040"/>
            <a:ext cx="2148840" cy="0"/>
          </a:xfrm>
          <a:prstGeom prst="line">
            <a:avLst/>
          </a:prstGeom>
          <a:noFill/>
          <a:ln w="22225">
            <a:solidFill>
              <a:srgbClr val="0EA5E9"/>
            </a:solidFill>
            <a:prstDash val="solid"/>
            <a:tailEnd type="triangle"/>
          </a:ln>
        </p:spPr>
      </p:sp>
      <p:sp>
        <p:nvSpPr>
          <p:cNvPr id="22" name="Text 20"/>
          <p:cNvSpPr/>
          <p:nvPr/>
        </p:nvSpPr>
        <p:spPr>
          <a:xfrm>
            <a:off x="1805940" y="2350008"/>
            <a:ext cx="2148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Klick auf 3. Stern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3954780" y="3200400"/>
            <a:ext cx="2148840" cy="0"/>
          </a:xfrm>
          <a:prstGeom prst="line">
            <a:avLst/>
          </a:prstGeom>
          <a:noFill/>
          <a:ln w="22225">
            <a:solidFill>
              <a:srgbClr val="0EA5E9"/>
            </a:solidFill>
            <a:prstDash val="solid"/>
            <a:tailEnd type="triangle"/>
          </a:ln>
        </p:spPr>
      </p:sp>
      <p:sp>
        <p:nvSpPr>
          <p:cNvPr id="24" name="Text 22"/>
          <p:cNvSpPr/>
          <p:nvPr/>
        </p:nvSpPr>
        <p:spPr>
          <a:xfrm>
            <a:off x="3954780" y="2944368"/>
            <a:ext cx="2148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 /api/ratings { score: 3, ... }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6103620" y="3794760"/>
            <a:ext cx="2148840" cy="0"/>
          </a:xfrm>
          <a:prstGeom prst="line">
            <a:avLst/>
          </a:prstGeom>
          <a:noFill/>
          <a:ln w="22225">
            <a:solidFill>
              <a:srgbClr val="0EA5E9"/>
            </a:solidFill>
            <a:prstDash val="solid"/>
            <a:tailEnd type="triangle"/>
          </a:ln>
        </p:spPr>
      </p:sp>
      <p:sp>
        <p:nvSpPr>
          <p:cNvPr id="26" name="Text 24"/>
          <p:cNvSpPr/>
          <p:nvPr/>
        </p:nvSpPr>
        <p:spPr>
          <a:xfrm>
            <a:off x="6103620" y="3538728"/>
            <a:ext cx="2148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findByTypeAndExternalId(...)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8252460" y="4389120"/>
            <a:ext cx="2148840" cy="0"/>
          </a:xfrm>
          <a:prstGeom prst="line">
            <a:avLst/>
          </a:prstGeom>
          <a:noFill/>
          <a:ln w="22225">
            <a:solidFill>
              <a:srgbClr val="0EA5E9"/>
            </a:solidFill>
            <a:prstDash val="solid"/>
            <a:tailEnd type="triangle"/>
          </a:ln>
        </p:spPr>
      </p:sp>
      <p:sp>
        <p:nvSpPr>
          <p:cNvPr id="28" name="Text 26"/>
          <p:cNvSpPr/>
          <p:nvPr/>
        </p:nvSpPr>
        <p:spPr>
          <a:xfrm>
            <a:off x="8252460" y="4133088"/>
            <a:ext cx="2148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 / UPDATE ratings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 flipH="1">
            <a:off x="8252460" y="4892040"/>
            <a:ext cx="2148840" cy="0"/>
          </a:xfrm>
          <a:prstGeom prst="line">
            <a:avLst/>
          </a:prstGeom>
          <a:noFill/>
          <a:ln w="22225">
            <a:solidFill>
              <a:srgbClr val="94A3B8"/>
            </a:solidFill>
            <a:prstDash val="solid"/>
            <a:tailEnd type="triangle"/>
          </a:ln>
        </p:spPr>
      </p:sp>
      <p:sp>
        <p:nvSpPr>
          <p:cNvPr id="30" name="Text 28"/>
          <p:cNvSpPr/>
          <p:nvPr/>
        </p:nvSpPr>
        <p:spPr>
          <a:xfrm>
            <a:off x="8252460" y="4636008"/>
            <a:ext cx="2148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Ergebnis-Zeile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 flipH="1">
            <a:off x="3954780" y="5486400"/>
            <a:ext cx="2148840" cy="0"/>
          </a:xfrm>
          <a:prstGeom prst="line">
            <a:avLst/>
          </a:prstGeom>
          <a:noFill/>
          <a:ln w="22225">
            <a:solidFill>
              <a:srgbClr val="94A3B8"/>
            </a:solidFill>
            <a:prstDash val="solid"/>
            <a:tailEnd type="triangle"/>
          </a:ln>
        </p:spPr>
      </p:sp>
      <p:sp>
        <p:nvSpPr>
          <p:cNvPr id="32" name="Text 30"/>
          <p:cNvSpPr/>
          <p:nvPr/>
        </p:nvSpPr>
        <p:spPr>
          <a:xfrm>
            <a:off x="3954780" y="5230368"/>
            <a:ext cx="2148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 OK { rating }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 flipH="1">
            <a:off x="1805940" y="5989320"/>
            <a:ext cx="2148840" cy="0"/>
          </a:xfrm>
          <a:prstGeom prst="line">
            <a:avLst/>
          </a:prstGeom>
          <a:noFill/>
          <a:ln w="22225">
            <a:solidFill>
              <a:srgbClr val="94A3B8"/>
            </a:solidFill>
            <a:prstDash val="solid"/>
            <a:tailEnd type="triangle"/>
          </a:ln>
        </p:spPr>
      </p:sp>
      <p:sp>
        <p:nvSpPr>
          <p:cNvPr id="34" name="Text 32"/>
          <p:cNvSpPr/>
          <p:nvPr/>
        </p:nvSpPr>
        <p:spPr>
          <a:xfrm>
            <a:off x="1805940" y="5733288"/>
            <a:ext cx="2148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Stern-UI aktualisiert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TESTINFRASTRUKTUR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0607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Externe Abhängigkeiten mocken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6528816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Sugoonaboxd · MS3 – Architektur &amp; Prototyping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185855" y="6528816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640080" y="1645920"/>
            <a:ext cx="5257800" cy="3931920"/>
          </a:xfrm>
          <a:prstGeom prst="roundRect">
            <a:avLst>
              <a:gd name="adj" fmla="val 209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2700000">
              <a:srgbClr val="0B122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841248" y="1847088"/>
            <a:ext cx="457200" cy="457200"/>
          </a:xfrm>
          <a:prstGeom prst="ellipse">
            <a:avLst/>
          </a:prstGeom>
          <a:solidFill>
            <a:srgbClr val="38BDF8">
              <a:alpha val="12000"/>
            </a:srgbClr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0976" y="1956816"/>
            <a:ext cx="237744" cy="237744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463040" y="1792224"/>
            <a:ext cx="4251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Warum mocken?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896112" y="2450592"/>
            <a:ext cx="4745736" cy="2944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Entwicklung unabhängig von Verfügbarkeit und Rate-Limits von IMDb, Jikan &amp; AniList</a:t>
            </a:r>
            <a:endParaRPr lang="en-US" sz="120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Deterministische Testdaten für automatisierte Tests</a:t>
            </a:r>
            <a:endParaRPr lang="en-US" sz="120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Simulation von Fehlerfällen (Timeout, 404, 500) ohne echte API-Ausfälle abzuwarten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6080760" y="1645920"/>
            <a:ext cx="5257800" cy="3931920"/>
          </a:xfrm>
          <a:prstGeom prst="roundRect">
            <a:avLst>
              <a:gd name="adj" fmla="val 209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2700000">
              <a:srgbClr val="0B1220">
                <a:alpha val="1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6281928" y="1847088"/>
            <a:ext cx="457200" cy="457200"/>
          </a:xfrm>
          <a:prstGeom prst="ellipse">
            <a:avLst/>
          </a:prstGeom>
          <a:solidFill>
            <a:srgbClr val="FACC15">
              <a:alpha val="12000"/>
            </a:srgbClr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91656" y="1956816"/>
            <a:ext cx="237744" cy="237744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6903720" y="1792224"/>
            <a:ext cx="4251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Geplanter Einsatz von WireMock</a:t>
            </a:r>
            <a:endParaRPr lang="en-US" sz="1500" dirty="0"/>
          </a:p>
        </p:txBody>
      </p:sp>
      <p:sp>
        <p:nvSpPr>
          <p:cNvPr id="15" name="Text 11"/>
          <p:cNvSpPr/>
          <p:nvPr/>
        </p:nvSpPr>
        <p:spPr>
          <a:xfrm>
            <a:off x="6336792" y="2450592"/>
            <a:ext cx="4745736" cy="2944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Stub für GET /titles/{id} (IMDb) mit Beispiel-Response</a:t>
            </a:r>
            <a:endParaRPr lang="en-US" sz="120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Stub für GET /anime?q=... (Jikan) inkl. leerer Trefferliste für den AniList-Fallback-Test</a:t>
            </a:r>
            <a:endParaRPr lang="en-US" sz="120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Aktivierung über ein eigenes Testprofil (application-test.properties)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EXPLORATIONEN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0607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Technische Spikes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6528816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Sugoonaboxd · MS3 – Architektur &amp; Prototyping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185855" y="6528816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640080" y="1691640"/>
            <a:ext cx="2578608" cy="3200400"/>
          </a:xfrm>
          <a:prstGeom prst="roundRect">
            <a:avLst>
              <a:gd name="adj" fmla="val 319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2700000">
              <a:srgbClr val="0B122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841248" y="1892808"/>
            <a:ext cx="457200" cy="457200"/>
          </a:xfrm>
          <a:prstGeom prst="ellipse">
            <a:avLst/>
          </a:prstGeom>
          <a:solidFill>
            <a:srgbClr val="38BDF8">
              <a:alpha val="12000"/>
            </a:srgbClr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0976" y="2002536"/>
            <a:ext cx="237744" cy="237744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463040" y="1837944"/>
            <a:ext cx="157276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Reaktiver WebClient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896112" y="2496312"/>
            <a:ext cx="2066544" cy="22128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spring-boot-starter-webflux getestet, um IMDb/Jikan/AniList non-blocking anzusprechen.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3419856" y="1691640"/>
            <a:ext cx="2578608" cy="3200400"/>
          </a:xfrm>
          <a:prstGeom prst="roundRect">
            <a:avLst>
              <a:gd name="adj" fmla="val 319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2700000">
              <a:srgbClr val="0B1220">
                <a:alpha val="1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3621024" y="1892808"/>
            <a:ext cx="457200" cy="457200"/>
          </a:xfrm>
          <a:prstGeom prst="ellipse">
            <a:avLst/>
          </a:prstGeom>
          <a:solidFill>
            <a:srgbClr val="38BDF8">
              <a:alpha val="12000"/>
            </a:srgbClr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30752" y="2002536"/>
            <a:ext cx="237744" cy="237744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4242816" y="1837944"/>
            <a:ext cx="157276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Fallback-Kette Anime</a:t>
            </a:r>
            <a:endParaRPr lang="en-US" sz="1300" dirty="0"/>
          </a:p>
        </p:txBody>
      </p:sp>
      <p:sp>
        <p:nvSpPr>
          <p:cNvPr id="15" name="Text 11"/>
          <p:cNvSpPr/>
          <p:nvPr/>
        </p:nvSpPr>
        <p:spPr>
          <a:xfrm>
            <a:off x="3675888" y="2496312"/>
            <a:ext cx="2066544" cy="22128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Automatischer Wechsel von Jikan zu AniList (GraphQL), wenn Jikan fehlschlägt oder leer antwortet.</a:t>
            </a:r>
            <a:endParaRPr lang="en-US" sz="1200" dirty="0"/>
          </a:p>
        </p:txBody>
      </p:sp>
      <p:sp>
        <p:nvSpPr>
          <p:cNvPr id="16" name="Shape 12"/>
          <p:cNvSpPr/>
          <p:nvPr/>
        </p:nvSpPr>
        <p:spPr>
          <a:xfrm>
            <a:off x="6199632" y="1691640"/>
            <a:ext cx="2578608" cy="3200400"/>
          </a:xfrm>
          <a:prstGeom prst="roundRect">
            <a:avLst>
              <a:gd name="adj" fmla="val 319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2700000">
              <a:srgbClr val="0B1220">
                <a:alpha val="10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6400800" y="1892808"/>
            <a:ext cx="457200" cy="457200"/>
          </a:xfrm>
          <a:prstGeom prst="ellipse">
            <a:avLst/>
          </a:prstGeom>
          <a:solidFill>
            <a:srgbClr val="38BDF8">
              <a:alpha val="12000"/>
            </a:srgbClr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10528" y="2002536"/>
            <a:ext cx="237744" cy="237744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7022592" y="1837944"/>
            <a:ext cx="157276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Fehlerbehandlung</a:t>
            </a:r>
            <a:endParaRPr lang="en-US" sz="1300" dirty="0"/>
          </a:p>
        </p:txBody>
      </p:sp>
      <p:sp>
        <p:nvSpPr>
          <p:cNvPr id="20" name="Text 15"/>
          <p:cNvSpPr/>
          <p:nvPr/>
        </p:nvSpPr>
        <p:spPr>
          <a:xfrm>
            <a:off x="6455664" y="2496312"/>
            <a:ext cx="2066544" cy="22128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WebClientResponseException wird auf passende HTTP-Statuscodes gemappt statt die App abstürzen zu lassen.</a:t>
            </a:r>
            <a:endParaRPr lang="en-US" sz="1200" dirty="0"/>
          </a:p>
        </p:txBody>
      </p:sp>
      <p:sp>
        <p:nvSpPr>
          <p:cNvPr id="21" name="Shape 16"/>
          <p:cNvSpPr/>
          <p:nvPr/>
        </p:nvSpPr>
        <p:spPr>
          <a:xfrm>
            <a:off x="8979408" y="1691640"/>
            <a:ext cx="2578608" cy="3200400"/>
          </a:xfrm>
          <a:prstGeom prst="roundRect">
            <a:avLst>
              <a:gd name="adj" fmla="val 319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2700000">
              <a:srgbClr val="0B1220">
                <a:alpha val="10000"/>
              </a:srgbClr>
            </a:outerShdw>
          </a:effectLst>
        </p:spPr>
      </p:sp>
      <p:sp>
        <p:nvSpPr>
          <p:cNvPr id="22" name="Shape 17"/>
          <p:cNvSpPr/>
          <p:nvPr/>
        </p:nvSpPr>
        <p:spPr>
          <a:xfrm>
            <a:off x="9180576" y="1892808"/>
            <a:ext cx="457200" cy="457200"/>
          </a:xfrm>
          <a:prstGeom prst="ellipse">
            <a:avLst/>
          </a:prstGeom>
          <a:solidFill>
            <a:srgbClr val="38BDF8">
              <a:alpha val="12000"/>
            </a:srgbClr>
          </a:solidFill>
          <a:ln/>
        </p:spPr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90304" y="2002536"/>
            <a:ext cx="237744" cy="237744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9802368" y="1837944"/>
            <a:ext cx="157276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Tech-Stack-Vorschau MS4</a:t>
            </a:r>
            <a:endParaRPr lang="en-US" sz="1300" dirty="0"/>
          </a:p>
        </p:txBody>
      </p:sp>
      <p:sp>
        <p:nvSpPr>
          <p:cNvPr id="25" name="Text 19"/>
          <p:cNvSpPr/>
          <p:nvPr/>
        </p:nvSpPr>
        <p:spPr>
          <a:xfrm>
            <a:off x="9235440" y="2496312"/>
            <a:ext cx="2066544" cy="22128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17, Spring Boot 3.5, Maven, PostgreSQL – bereits im Grundgerüst verankert.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ERGEBNIS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0607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Status: Lauffähiges Grundgerüst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6528816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Sugoonaboxd · MS3 – Architektur &amp; Prototyping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185855" y="6528816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640080" y="1645920"/>
            <a:ext cx="10881360" cy="411480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2700000">
              <a:srgbClr val="0B122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841248" y="1847088"/>
            <a:ext cx="457200" cy="457200"/>
          </a:xfrm>
          <a:prstGeom prst="ellipse">
            <a:avLst/>
          </a:prstGeom>
          <a:solidFill>
            <a:srgbClr val="22C55E">
              <a:alpha val="12000"/>
            </a:srgbClr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0976" y="1956816"/>
            <a:ext cx="237744" cy="237744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463040" y="1792224"/>
            <a:ext cx="9875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Bereits umgesetzt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896112" y="2450592"/>
            <a:ext cx="10369296" cy="31272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Spring-Boot-Projekt (Maven) aufgesetzt und startet lokal</a:t>
            </a:r>
            <a:endParaRPr lang="en-US" sz="130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Verbindung zur PostgreSQL-Instanz der HTW konfiguriert (application.properties)</a:t>
            </a:r>
            <a:endParaRPr lang="en-US" sz="130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Rating-Entity mit JPA-Mapping und Repository implementiert</a:t>
            </a:r>
            <a:endParaRPr lang="en-US" sz="130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REST-Endpunkte /api/search, /api/title-details und /api/ratings lauffähig</a:t>
            </a:r>
            <a:endParaRPr lang="en-US" sz="130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(index.html/script.js) an das Backend angebunden und manuell getestet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436815" y="-2377440"/>
            <a:ext cx="6858000" cy="6858000"/>
          </a:xfrm>
          <a:prstGeom prst="ellipse">
            <a:avLst/>
          </a:prstGeom>
          <a:solidFill>
            <a:srgbClr val="1D2740">
              <a:alpha val="6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2926080" y="3931920"/>
            <a:ext cx="5486400" cy="5486400"/>
          </a:xfrm>
          <a:prstGeom prst="ellipse">
            <a:avLst/>
          </a:prstGeom>
          <a:solidFill>
            <a:srgbClr val="0EA5E9">
              <a:alpha val="18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41732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300" kern="0" dirty="0">
                <a:solidFill>
                  <a:srgbClr val="FACC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AUSBLICK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777240" y="1874520"/>
            <a:ext cx="1005840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Weiter mit MS4 – Implementierung &amp; Deployment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822960" y="3703320"/>
            <a:ext cx="9601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Vom Grundgerüst zum lauffähigen MVP mit vollständiger Geschäftslogik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22960" y="598932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Sugoonaboxd  ·  Team Mandy Nguyen, Luca Hoffmann, Emily Nguyen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77240" y="932688"/>
            <a:ext cx="914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FACC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</a:t>
            </a:r>
            <a:endParaRPr lang="en-US" sz="2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HTW Berlin – Internationale Medieninformatik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Sugoonaboxd – MS3 Architektur &amp; Prototyping</dc:title>
  <dc:subject>PptxGenJS Presentation</dc:subject>
  <dc:creator>Mandy Nguyen, Luca Hoffmann, Emily Nguyen</dc:creator>
  <cp:lastModifiedBy>Mandy Nguyen, Luca Hoffmann, Emily Nguyen</cp:lastModifiedBy>
  <cp:revision>1</cp:revision>
  <dcterms:created xsi:type="dcterms:W3CDTF">2026-07-09T14:44:30Z</dcterms:created>
  <dcterms:modified xsi:type="dcterms:W3CDTF">2026-07-09T14:44:30Z</dcterms:modified>
</cp:coreProperties>
</file>